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529" r:id="rId5"/>
    <p:sldId id="258" r:id="rId6"/>
    <p:sldId id="256" r:id="rId7"/>
    <p:sldId id="528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DC3FD8-8EDE-E513-9D48-BDCED0365091}" name="Gabriela Nicolau Olmedo Consul" initials="GC" userId="S::gabriela.consul@bpplaw.com.br::8f064311-615f-4bf0-8b14-07e35a4ad3e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F2E"/>
    <a:srgbClr val="FCF9F5"/>
    <a:srgbClr val="D5B1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B5270A-5E8B-F80F-08FE-74B12FD0ADEA}" v="16" dt="2026-03-12T20:39:42.434"/>
    <p1510:client id="{EF43E113-C421-42AB-B520-20F89460CA4C}" v="75" dt="2026-03-12T20:46:43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5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10AAE-A08F-45DF-B19D-7E775EF83178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7728B-BCD9-465A-8D97-413FD6B01F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1641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18ED5-A83A-0129-0AC3-B0F969036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18789F-CBC3-8434-07C5-6C40714D3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D2D67B-5D9B-2A66-FF04-ADFB64B5A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F592-F5CC-4D1A-A8FA-2D65F7739D6F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15E59D-E5FA-CD5D-244E-D2A07AB8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7E8288-BA88-D1AF-18EE-9D32AE8A2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C7D-EFEE-49F6-8355-D20388A44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46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9E038-8692-C6D2-DA7C-BDA5AA53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02B272-6CC7-F387-2075-FDCAED612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EB0C7A-B616-5971-C663-D1349640E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F592-F5CC-4D1A-A8FA-2D65F7739D6F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D93204-421A-B929-268B-553E0EB04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644859-E303-74DA-1296-F72365EE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C7D-EFEE-49F6-8355-D20388A44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249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8425E-E1FE-AC33-2D96-BC8229C09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9B16C2-FC29-6A83-81F0-6B72D7581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0CF93C-4A0D-D411-4DEB-51D69138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F592-F5CC-4D1A-A8FA-2D65F7739D6F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419F26-34F6-D61C-8E80-936A00AA0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178F5E-10EF-F534-A37D-5D84184BB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C7D-EFEE-49F6-8355-D20388A44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884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24946-3E2E-33D7-3959-1DE64A72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10322B-DCEA-4C4E-0585-B20FA415F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C501F1-6118-675C-09D8-CD63392E5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0BBD83-85B0-A194-0AF7-983E18F5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F592-F5CC-4D1A-A8FA-2D65F7739D6F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3F9625-C5A4-D0BC-3152-4AC452DBB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678E26-2A3B-93B9-71E8-5127041C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C7D-EFEE-49F6-8355-D20388A44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96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C516-4E62-75D7-7406-686159BC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712295-532C-6C3C-9115-F2200F307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E45C2C-03AD-EBFF-8833-F521A75DF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9B1B5FB-873C-C95C-52D7-0EEC1FCA3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66AC00-382D-FA49-419E-1C205A203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CB0CEE-07E2-E809-D30C-21E155EC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F592-F5CC-4D1A-A8FA-2D65F7739D6F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FAADE71-EE97-C35D-915B-87F9F2EB3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6F7674-AB16-8012-626C-69918A23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C7D-EFEE-49F6-8355-D20388A44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583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9D3BD-885F-5DC1-DD92-0FD48653F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513604-84BD-CDBC-C15E-578DCA020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F592-F5CC-4D1A-A8FA-2D65F7739D6F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533294D-90D5-E081-E45E-54B3A2AE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298CD9A-E158-856D-1562-0DB2A9497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C7D-EFEE-49F6-8355-D20388A44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699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ACFE4B-30B8-3EAA-0B26-1E7AEC4E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F592-F5CC-4D1A-A8FA-2D65F7739D6F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5C089CE-1B19-AFBD-E7FA-60F450A9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C4EE13-7D3C-4825-BD7C-622195B3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C7D-EFEE-49F6-8355-D20388A44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936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6B397-E332-AC38-CA3E-EED3A762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5419DA-CEE1-0B38-4462-DDE466165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8029D5-1059-6541-C29F-1D41072C0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936EAD-AFFE-8BCA-10D5-970110C1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F592-F5CC-4D1A-A8FA-2D65F7739D6F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9616A9-BF5A-2F8A-5E76-7EF483E88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881F5D-25F7-8594-07A0-679A5FF6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C7D-EFEE-49F6-8355-D20388A44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23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0704A-4427-B1BC-9D1A-E22023963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922A7C9-3459-451B-5292-A694EB5C8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D6C72F-BE3A-F9C0-ED3C-3B3D6FE0C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9D7823-7E64-EA2D-2925-C2220872E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F592-F5CC-4D1A-A8FA-2D65F7739D6F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B4929E-FD96-D5BD-97AD-8DECD4B9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7EA790-2713-3513-B83A-53558BAA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C7D-EFEE-49F6-8355-D20388A44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962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81C68-2265-90DB-8634-E33C3AF9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393DD0-49BE-9179-FA50-EFF992358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505DC8-45F6-CA8E-F0C8-A2F1F9410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F592-F5CC-4D1A-A8FA-2D65F7739D6F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A06454-6DAE-2DEF-F089-E015D961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87AE19-04AE-E31C-FB67-C469D793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C7D-EFEE-49F6-8355-D20388A44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78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FEA04B-909D-F822-AE86-FC7971352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90CEC4-1EA5-8C38-D6AD-AC8B0283A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10D1F4-2767-9D70-7AC2-D357510B4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F592-F5CC-4D1A-A8FA-2D65F7739D6F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A4EFCC-6030-6C68-735C-579A02902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3EDFFF-A5BB-D242-6E49-DA852963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C7D-EFEE-49F6-8355-D20388A44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1864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F7E8284-CD30-C663-ECFE-A17F6A933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2E47CF-09BE-E4F4-4DEF-8F3F7A2E6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96449-EB6C-B36C-64B8-7D39FD306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7F592-F5CC-4D1A-A8FA-2D65F7739D6F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AA41DD-6EF1-2491-3854-8A75B871E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B33374-C9F5-5A71-94C5-839A27B56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38C7D-EFEE-49F6-8355-D20388A44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83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92326A9-520B-5093-5219-C6A6982CA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4A00A29-A3E1-9E5C-3E97-3A00777F9D98}"/>
              </a:ext>
            </a:extLst>
          </p:cNvPr>
          <p:cNvSpPr txBox="1"/>
          <p:nvPr/>
        </p:nvSpPr>
        <p:spPr>
          <a:xfrm>
            <a:off x="533248" y="181286"/>
            <a:ext cx="3850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>
                <a:solidFill>
                  <a:srgbClr val="FDFAF5"/>
                </a:solidFill>
                <a:latin typeface="Aptos Black" panose="020B0004020202020204" pitchFamily="34" charset="0"/>
              </a:rPr>
              <a:t>DUE DILLIGENCE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D913937-B901-0FBE-2C5C-CBFEC2963455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entágono 7">
            <a:extLst>
              <a:ext uri="{FF2B5EF4-FFF2-40B4-BE49-F238E27FC236}">
                <a16:creationId xmlns:a16="http://schemas.microsoft.com/office/drawing/2014/main" id="{4AC9F281-1263-F6AB-D555-2419813F5158}"/>
              </a:ext>
            </a:extLst>
          </p:cNvPr>
          <p:cNvSpPr/>
          <p:nvPr/>
        </p:nvSpPr>
        <p:spPr>
          <a:xfrm flipH="1">
            <a:off x="5406013" y="-1"/>
            <a:ext cx="6828699" cy="6858001"/>
          </a:xfrm>
          <a:prstGeom prst="homePlate">
            <a:avLst>
              <a:gd name="adj" fmla="val 42643"/>
            </a:avLst>
          </a:prstGeom>
          <a:solidFill>
            <a:srgbClr val="10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59A232E5-5628-57CE-CA8B-CDC0745EF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8"/>
          <a:stretch>
            <a:fillRect/>
          </a:stretch>
        </p:blipFill>
        <p:spPr>
          <a:xfrm rot="10800000" flipV="1">
            <a:off x="5343890" y="0"/>
            <a:ext cx="9737614" cy="6858000"/>
          </a:xfrm>
          <a:prstGeom prst="homePlate">
            <a:avLst>
              <a:gd name="adj" fmla="val 42967"/>
            </a:avLst>
          </a:prstGeom>
        </p:spPr>
      </p:pic>
      <p:sp>
        <p:nvSpPr>
          <p:cNvPr id="15" name="Seta: Pentágono 14">
            <a:extLst>
              <a:ext uri="{FF2B5EF4-FFF2-40B4-BE49-F238E27FC236}">
                <a16:creationId xmlns:a16="http://schemas.microsoft.com/office/drawing/2014/main" id="{65BCBA63-A22A-C0F9-7250-A865D1327F2A}"/>
              </a:ext>
            </a:extLst>
          </p:cNvPr>
          <p:cNvSpPr/>
          <p:nvPr/>
        </p:nvSpPr>
        <p:spPr>
          <a:xfrm flipH="1">
            <a:off x="5323696" y="0"/>
            <a:ext cx="7599772" cy="6858001"/>
          </a:xfrm>
          <a:prstGeom prst="homePlate">
            <a:avLst>
              <a:gd name="adj" fmla="val 43179"/>
            </a:avLst>
          </a:prstGeom>
          <a:gradFill>
            <a:gsLst>
              <a:gs pos="0">
                <a:srgbClr val="FCF9F5">
                  <a:alpha val="67000"/>
                </a:srgbClr>
              </a:gs>
              <a:gs pos="100000">
                <a:srgbClr val="101F2E"/>
              </a:gs>
              <a:gs pos="71000">
                <a:srgbClr val="101F2E">
                  <a:alpha val="91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FE3CBAD-AD72-B9BA-2351-40E27BDE4A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633" y="2321639"/>
            <a:ext cx="3294235" cy="199867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3B5EF87-4A43-19C0-E394-B2639D08DD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80" b="46339"/>
          <a:stretch>
            <a:fillRect/>
          </a:stretch>
        </p:blipFill>
        <p:spPr>
          <a:xfrm rot="5400000" flipV="1">
            <a:off x="7302303" y="3410408"/>
            <a:ext cx="4142118" cy="1018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5FBDDCE-B49C-342F-79F4-03D163B153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80" b="46339"/>
          <a:stretch>
            <a:fillRect/>
          </a:stretch>
        </p:blipFill>
        <p:spPr>
          <a:xfrm rot="10800000">
            <a:off x="-731469" y="3393193"/>
            <a:ext cx="5542111" cy="136292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EC1A3971-780A-4F1A-3CC8-42E20A6B3887}"/>
              </a:ext>
            </a:extLst>
          </p:cNvPr>
          <p:cNvSpPr txBox="1"/>
          <p:nvPr/>
        </p:nvSpPr>
        <p:spPr>
          <a:xfrm>
            <a:off x="513395" y="2859314"/>
            <a:ext cx="4577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D5B170"/>
              </a:buClr>
            </a:pPr>
            <a:r>
              <a:rPr lang="pt-BR" sz="2400" b="1" spc="-90" dirty="0">
                <a:solidFill>
                  <a:srgbClr val="FDFAF5"/>
                </a:solidFill>
                <a:latin typeface="Aptos" panose="020B0004020202020204" pitchFamily="34" charset="0"/>
              </a:rPr>
              <a:t>[nome]</a:t>
            </a:r>
          </a:p>
        </p:txBody>
      </p:sp>
    </p:spTree>
    <p:extLst>
      <p:ext uri="{BB962C8B-B14F-4D97-AF65-F5344CB8AC3E}">
        <p14:creationId xmlns:p14="http://schemas.microsoft.com/office/powerpoint/2010/main" val="2755000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FA388-4844-021E-11C8-BCA24F25F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F21670E-1CE1-09C5-D02F-753704017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0A51AE1-58A5-C5C1-5C8A-C0F678256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03" y="1296354"/>
            <a:ext cx="7682079" cy="4511283"/>
          </a:xfrm>
          <a:prstGeom prst="rect">
            <a:avLst/>
          </a:prstGeom>
        </p:spPr>
      </p:pic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3E527F2-EAC9-79AA-4EA3-7EAE303230EF}"/>
              </a:ext>
            </a:extLst>
          </p:cNvPr>
          <p:cNvSpPr/>
          <p:nvPr/>
        </p:nvSpPr>
        <p:spPr>
          <a:xfrm>
            <a:off x="533248" y="1427418"/>
            <a:ext cx="4437337" cy="1020995"/>
          </a:xfrm>
          <a:prstGeom prst="roundRect">
            <a:avLst>
              <a:gd name="adj" fmla="val 29133"/>
            </a:avLst>
          </a:prstGeom>
          <a:gradFill>
            <a:gsLst>
              <a:gs pos="0">
                <a:srgbClr val="FCF9F5">
                  <a:alpha val="10000"/>
                </a:srgbClr>
              </a:gs>
              <a:gs pos="98000">
                <a:srgbClr val="101F2E">
                  <a:alpha val="0"/>
                </a:srgbClr>
              </a:gs>
            </a:gsLst>
            <a:lin ang="0" scaled="0"/>
          </a:gradFill>
          <a:ln w="127">
            <a:gradFill>
              <a:gsLst>
                <a:gs pos="0">
                  <a:srgbClr val="FCF9F5">
                    <a:alpha val="0"/>
                  </a:srgbClr>
                </a:gs>
                <a:gs pos="100000">
                  <a:srgbClr val="FCF9F5">
                    <a:alpha val="14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2457733-D8F0-FD7C-15A6-52DBE56D75C9}"/>
              </a:ext>
            </a:extLst>
          </p:cNvPr>
          <p:cNvSpPr/>
          <p:nvPr/>
        </p:nvSpPr>
        <p:spPr>
          <a:xfrm>
            <a:off x="533248" y="2665385"/>
            <a:ext cx="4437337" cy="1020995"/>
          </a:xfrm>
          <a:prstGeom prst="roundRect">
            <a:avLst>
              <a:gd name="adj" fmla="val 29133"/>
            </a:avLst>
          </a:prstGeom>
          <a:gradFill>
            <a:gsLst>
              <a:gs pos="0">
                <a:srgbClr val="FCF9F5">
                  <a:alpha val="10000"/>
                </a:srgbClr>
              </a:gs>
              <a:gs pos="98000">
                <a:srgbClr val="101F2E">
                  <a:alpha val="0"/>
                </a:srgbClr>
              </a:gs>
            </a:gsLst>
            <a:lin ang="0" scaled="0"/>
          </a:gradFill>
          <a:ln w="127">
            <a:gradFill>
              <a:gsLst>
                <a:gs pos="0">
                  <a:srgbClr val="FCF9F5">
                    <a:alpha val="0"/>
                  </a:srgbClr>
                </a:gs>
                <a:gs pos="100000">
                  <a:srgbClr val="FCF9F5">
                    <a:alpha val="14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B7CA6C62-5530-C895-DEE4-AD3CF4B7AE93}"/>
              </a:ext>
            </a:extLst>
          </p:cNvPr>
          <p:cNvSpPr/>
          <p:nvPr/>
        </p:nvSpPr>
        <p:spPr>
          <a:xfrm>
            <a:off x="533248" y="3894248"/>
            <a:ext cx="4437337" cy="1020995"/>
          </a:xfrm>
          <a:prstGeom prst="roundRect">
            <a:avLst>
              <a:gd name="adj" fmla="val 29133"/>
            </a:avLst>
          </a:prstGeom>
          <a:gradFill>
            <a:gsLst>
              <a:gs pos="0">
                <a:srgbClr val="FCF9F5">
                  <a:alpha val="10000"/>
                </a:srgbClr>
              </a:gs>
              <a:gs pos="98000">
                <a:srgbClr val="101F2E">
                  <a:alpha val="0"/>
                </a:srgbClr>
              </a:gs>
            </a:gsLst>
            <a:lin ang="0" scaled="0"/>
          </a:gradFill>
          <a:ln w="127">
            <a:gradFill>
              <a:gsLst>
                <a:gs pos="0">
                  <a:srgbClr val="FCF9F5">
                    <a:alpha val="0"/>
                  </a:srgbClr>
                </a:gs>
                <a:gs pos="100000">
                  <a:srgbClr val="FCF9F5">
                    <a:alpha val="14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733F2765-B1F7-3990-2E55-099B711A1D45}"/>
              </a:ext>
            </a:extLst>
          </p:cNvPr>
          <p:cNvSpPr/>
          <p:nvPr/>
        </p:nvSpPr>
        <p:spPr>
          <a:xfrm>
            <a:off x="533247" y="5123111"/>
            <a:ext cx="4437337" cy="1020995"/>
          </a:xfrm>
          <a:prstGeom prst="roundRect">
            <a:avLst>
              <a:gd name="adj" fmla="val 29133"/>
            </a:avLst>
          </a:prstGeom>
          <a:gradFill>
            <a:gsLst>
              <a:gs pos="0">
                <a:srgbClr val="FCF9F5">
                  <a:alpha val="10000"/>
                </a:srgbClr>
              </a:gs>
              <a:gs pos="98000">
                <a:srgbClr val="101F2E">
                  <a:alpha val="0"/>
                </a:srgbClr>
              </a:gs>
            </a:gsLst>
            <a:lin ang="0" scaled="0"/>
          </a:gradFill>
          <a:ln w="127">
            <a:gradFill>
              <a:gsLst>
                <a:gs pos="0">
                  <a:srgbClr val="FCF9F5">
                    <a:alpha val="0"/>
                  </a:srgbClr>
                </a:gs>
                <a:gs pos="100000">
                  <a:srgbClr val="FCF9F5">
                    <a:alpha val="14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pic>
        <p:nvPicPr>
          <p:cNvPr id="7" name="Gráfico 6" descr="Maleta com preenchimento sólido">
            <a:extLst>
              <a:ext uri="{FF2B5EF4-FFF2-40B4-BE49-F238E27FC236}">
                <a16:creationId xmlns:a16="http://schemas.microsoft.com/office/drawing/2014/main" id="{C865BC55-5B0A-1930-5F6E-683E22A7A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556" y="5325995"/>
            <a:ext cx="570089" cy="570089"/>
          </a:xfrm>
          <a:prstGeom prst="rect">
            <a:avLst/>
          </a:prstGeom>
        </p:spPr>
      </p:pic>
      <p:pic>
        <p:nvPicPr>
          <p:cNvPr id="9" name="Gráfico 8" descr="Usuário com preenchimento sólido">
            <a:extLst>
              <a:ext uri="{FF2B5EF4-FFF2-40B4-BE49-F238E27FC236}">
                <a16:creationId xmlns:a16="http://schemas.microsoft.com/office/drawing/2014/main" id="{A252E24B-168B-896D-356E-5EB587743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577" y="4031652"/>
            <a:ext cx="666045" cy="66604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0754055-E46A-81C5-20B5-689FBBC359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5554" y="2890838"/>
            <a:ext cx="570090" cy="57009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0B2EBE6-9D09-62E5-78F4-5953A91B6E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8864" y="1636997"/>
            <a:ext cx="570090" cy="57009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FDB82059-1B91-C7DD-A423-3C8FBAB17286}"/>
              </a:ext>
            </a:extLst>
          </p:cNvPr>
          <p:cNvSpPr txBox="1"/>
          <p:nvPr/>
        </p:nvSpPr>
        <p:spPr>
          <a:xfrm>
            <a:off x="533248" y="181286"/>
            <a:ext cx="4886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>
                <a:solidFill>
                  <a:srgbClr val="FDFAF5"/>
                </a:solidFill>
                <a:latin typeface="Aptos Black" panose="020B0004020202020204" pitchFamily="34" charset="0"/>
              </a:rPr>
              <a:t>SOBRE O ESCRITÓRIO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A2935D4-B7C2-2AE8-9E31-60FFC4DA7ABA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D2E5BC8-E980-7AB4-000A-089DC26F6370}"/>
              </a:ext>
            </a:extLst>
          </p:cNvPr>
          <p:cNvSpPr txBox="1"/>
          <p:nvPr/>
        </p:nvSpPr>
        <p:spPr>
          <a:xfrm>
            <a:off x="1323622" y="1568906"/>
            <a:ext cx="3258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00" b="1">
                <a:solidFill>
                  <a:srgbClr val="FCF9F5"/>
                </a:solidFill>
              </a:rPr>
              <a:t>R$ 3 Bilhões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5BE4EB-E4C6-4FE4-06D5-6BC90B8B3A3C}"/>
              </a:ext>
            </a:extLst>
          </p:cNvPr>
          <p:cNvSpPr txBox="1"/>
          <p:nvPr/>
        </p:nvSpPr>
        <p:spPr>
          <a:xfrm>
            <a:off x="1323622" y="1949839"/>
            <a:ext cx="2926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>
                <a:solidFill>
                  <a:srgbClr val="FCF9F5"/>
                </a:solidFill>
                <a:latin typeface="Aptos Light" panose="020B0004020202020204" pitchFamily="34" charset="0"/>
              </a:rPr>
              <a:t>Sob responsabilidade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3E12F5B-A6F9-F553-FDC7-42B9668AE6EA}"/>
              </a:ext>
            </a:extLst>
          </p:cNvPr>
          <p:cNvSpPr txBox="1"/>
          <p:nvPr/>
        </p:nvSpPr>
        <p:spPr>
          <a:xfrm>
            <a:off x="1323622" y="2800750"/>
            <a:ext cx="3646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00" b="1">
                <a:solidFill>
                  <a:srgbClr val="FCF9F5"/>
                </a:solidFill>
              </a:rPr>
              <a:t>Mais de 8.000 processos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F0424B5-C063-34E9-6D4F-04EC655227F2}"/>
              </a:ext>
            </a:extLst>
          </p:cNvPr>
          <p:cNvSpPr txBox="1"/>
          <p:nvPr/>
        </p:nvSpPr>
        <p:spPr>
          <a:xfrm>
            <a:off x="1323622" y="3181683"/>
            <a:ext cx="2926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>
                <a:solidFill>
                  <a:srgbClr val="FCF9F5"/>
                </a:solidFill>
                <a:latin typeface="Aptos Light" panose="020B0004020202020204" pitchFamily="34" charset="0"/>
              </a:rPr>
              <a:t>Sob gestão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21A83F5-387A-6396-9E36-43FB6B817255}"/>
              </a:ext>
            </a:extLst>
          </p:cNvPr>
          <p:cNvSpPr txBox="1"/>
          <p:nvPr/>
        </p:nvSpPr>
        <p:spPr>
          <a:xfrm>
            <a:off x="1323622" y="4026654"/>
            <a:ext cx="3771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00" b="1">
                <a:solidFill>
                  <a:srgbClr val="FCF9F5"/>
                </a:solidFill>
              </a:rPr>
              <a:t>Mais de 60 colaboradores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64C67EA-C2F0-B663-C7F8-7E48BBCB7B8A}"/>
              </a:ext>
            </a:extLst>
          </p:cNvPr>
          <p:cNvSpPr txBox="1"/>
          <p:nvPr/>
        </p:nvSpPr>
        <p:spPr>
          <a:xfrm>
            <a:off x="1323622" y="4413642"/>
            <a:ext cx="379138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600">
                <a:solidFill>
                  <a:srgbClr val="FCF9F5"/>
                </a:solidFill>
                <a:latin typeface="Aptos Light"/>
              </a:rPr>
              <a:t>&gt;80%  pós graduados/especialistas)</a:t>
            </a:r>
            <a:endParaRPr lang="pt-BR" sz="1600">
              <a:solidFill>
                <a:srgbClr val="FCF9F5"/>
              </a:solidFill>
              <a:latin typeface="Aptos Light" panose="020B0004020202020204" pitchFamily="34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054F3C8-A5E0-74AA-1808-86B15C71757D}"/>
              </a:ext>
            </a:extLst>
          </p:cNvPr>
          <p:cNvSpPr txBox="1"/>
          <p:nvPr/>
        </p:nvSpPr>
        <p:spPr>
          <a:xfrm>
            <a:off x="1323622" y="5252558"/>
            <a:ext cx="325847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300" b="1">
                <a:solidFill>
                  <a:srgbClr val="FCF9F5"/>
                </a:solidFill>
              </a:rPr>
              <a:t>+200 clientes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E374FF3-8C4B-5FD5-48EB-B0EFEAAAE0E8}"/>
              </a:ext>
            </a:extLst>
          </p:cNvPr>
          <p:cNvSpPr txBox="1"/>
          <p:nvPr/>
        </p:nvSpPr>
        <p:spPr>
          <a:xfrm>
            <a:off x="1323622" y="5633491"/>
            <a:ext cx="2926831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600">
                <a:solidFill>
                  <a:srgbClr val="FCF9F5"/>
                </a:solidFill>
                <a:latin typeface="Aptos Light"/>
              </a:rPr>
              <a:t>Aproximadamente</a:t>
            </a:r>
          </a:p>
        </p:txBody>
      </p:sp>
    </p:spTree>
    <p:extLst>
      <p:ext uri="{BB962C8B-B14F-4D97-AF65-F5344CB8AC3E}">
        <p14:creationId xmlns:p14="http://schemas.microsoft.com/office/powerpoint/2010/main" val="957845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92F8F-9764-070D-638D-46ACCE239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4338" y="1263039"/>
            <a:ext cx="9144000" cy="2387600"/>
          </a:xfrm>
        </p:spPr>
        <p:txBody>
          <a:bodyPr/>
          <a:lstStyle/>
          <a:p>
            <a:r>
              <a:rPr lang="pt-BR"/>
              <a:t>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8F010E-0E4C-84BD-BE31-68FB6213C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4338" y="3376954"/>
            <a:ext cx="9144000" cy="1655762"/>
          </a:xfrm>
        </p:spPr>
        <p:txBody>
          <a:bodyPr/>
          <a:lstStyle/>
          <a:p>
            <a:endParaRPr lang="pt-BR"/>
          </a:p>
        </p:txBody>
      </p:sp>
      <p:pic>
        <p:nvPicPr>
          <p:cNvPr id="4" name="Imagem 3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3D940296-C5FB-175E-6FE0-5B7D9A95A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2251007-3654-B37D-CFFC-E8678B36ED6D}"/>
              </a:ext>
            </a:extLst>
          </p:cNvPr>
          <p:cNvSpPr txBox="1"/>
          <p:nvPr/>
        </p:nvSpPr>
        <p:spPr>
          <a:xfrm>
            <a:off x="533248" y="181286"/>
            <a:ext cx="342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>
                <a:solidFill>
                  <a:srgbClr val="FDFAF5"/>
                </a:solidFill>
                <a:latin typeface="Aptos Black" panose="020B0004020202020204" pitchFamily="34" charset="0"/>
              </a:rPr>
              <a:t>METODOLOGIA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E30CC29-DDDD-AB12-79F2-3AE323755A77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D6DF377-03F4-9379-6EB0-456BAB6EF28B}"/>
              </a:ext>
            </a:extLst>
          </p:cNvPr>
          <p:cNvSpPr/>
          <p:nvPr/>
        </p:nvSpPr>
        <p:spPr>
          <a:xfrm>
            <a:off x="738932" y="1397239"/>
            <a:ext cx="3289759" cy="3765754"/>
          </a:xfrm>
          <a:prstGeom prst="roundRect">
            <a:avLst>
              <a:gd name="adj" fmla="val 10391"/>
            </a:avLst>
          </a:prstGeom>
          <a:gradFill>
            <a:gsLst>
              <a:gs pos="59000">
                <a:srgbClr val="625C4A">
                  <a:alpha val="58000"/>
                </a:srgbClr>
              </a:gs>
              <a:gs pos="23000">
                <a:srgbClr val="A48D60">
                  <a:alpha val="12000"/>
                </a:srgbClr>
              </a:gs>
              <a:gs pos="3000">
                <a:srgbClr val="D5B170">
                  <a:alpha val="0"/>
                </a:srgbClr>
              </a:gs>
              <a:gs pos="100000">
                <a:srgbClr val="101F2E"/>
              </a:gs>
            </a:gsLst>
            <a:lin ang="5400000" scaled="1"/>
          </a:gradFill>
          <a:ln w="1270">
            <a:gradFill>
              <a:gsLst>
                <a:gs pos="0">
                  <a:srgbClr val="FCF9F5">
                    <a:alpha val="17000"/>
                  </a:srgbClr>
                </a:gs>
                <a:gs pos="54000">
                  <a:srgbClr val="FCF9F5">
                    <a:alpha val="0"/>
                  </a:srgbClr>
                </a:gs>
                <a:gs pos="100000">
                  <a:srgbClr val="FCF9F5">
                    <a:alpha val="15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0A0D512-7421-CD70-5FB7-1F03CD5AC6E4}"/>
              </a:ext>
            </a:extLst>
          </p:cNvPr>
          <p:cNvSpPr txBox="1"/>
          <p:nvPr/>
        </p:nvSpPr>
        <p:spPr>
          <a:xfrm>
            <a:off x="1522840" y="1509060"/>
            <a:ext cx="1765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err="1">
                <a:solidFill>
                  <a:srgbClr val="FDFAF5"/>
                </a:solidFill>
                <a:effectLst/>
                <a:latin typeface="Aptos" panose="020B0004020202020204" pitchFamily="34" charset="0"/>
              </a:rPr>
              <a:t>Due</a:t>
            </a:r>
            <a:r>
              <a:rPr lang="pt-BR" sz="1800" b="1" i="0" u="none" strike="noStrike">
                <a:solidFill>
                  <a:srgbClr val="FDFAF5"/>
                </a:solidFill>
                <a:effectLst/>
                <a:latin typeface="Aptos" panose="020B0004020202020204" pitchFamily="34" charset="0"/>
              </a:rPr>
              <a:t> </a:t>
            </a:r>
            <a:r>
              <a:rPr lang="pt-BR" sz="1800" b="1" i="0" u="none" strike="noStrike" err="1">
                <a:solidFill>
                  <a:srgbClr val="FDFAF5"/>
                </a:solidFill>
                <a:effectLst/>
                <a:latin typeface="Aptos" panose="020B0004020202020204" pitchFamily="34" charset="0"/>
              </a:rPr>
              <a:t>Diligence</a:t>
            </a:r>
            <a:r>
              <a:rPr lang="pt-BR" sz="1800" b="1" i="0" u="none" strike="noStrike">
                <a:solidFill>
                  <a:srgbClr val="FDFAF5"/>
                </a:solidFill>
                <a:effectLst/>
                <a:latin typeface="Aptos" panose="020B0004020202020204" pitchFamily="34" charset="0"/>
              </a:rPr>
              <a:t>: </a:t>
            </a:r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F20DF32-637A-4D7B-6476-71FE324EE284}"/>
              </a:ext>
            </a:extLst>
          </p:cNvPr>
          <p:cNvSpPr/>
          <p:nvPr/>
        </p:nvSpPr>
        <p:spPr>
          <a:xfrm>
            <a:off x="668594" y="5668704"/>
            <a:ext cx="10647059" cy="720666"/>
          </a:xfrm>
          <a:prstGeom prst="roundRect">
            <a:avLst>
              <a:gd name="adj" fmla="val 50000"/>
            </a:avLst>
          </a:prstGeom>
          <a:noFill/>
          <a:ln w="2540">
            <a:gradFill>
              <a:gsLst>
                <a:gs pos="30000">
                  <a:srgbClr val="D5B170">
                    <a:alpha val="44000"/>
                  </a:srgbClr>
                </a:gs>
                <a:gs pos="53000">
                  <a:srgbClr val="FCF9F5"/>
                </a:gs>
                <a:gs pos="75000">
                  <a:srgbClr val="D5B170">
                    <a:alpha val="53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BE92CCD-93B4-9322-A0E8-B434148F5BDF}"/>
              </a:ext>
            </a:extLst>
          </p:cNvPr>
          <p:cNvSpPr txBox="1"/>
          <p:nvPr/>
        </p:nvSpPr>
        <p:spPr>
          <a:xfrm>
            <a:off x="747086" y="2145028"/>
            <a:ext cx="330255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Clr>
                <a:srgbClr val="D5B170"/>
              </a:buClr>
            </a:pPr>
            <a:r>
              <a:rPr lang="pt-BR" sz="1600">
                <a:solidFill>
                  <a:srgbClr val="FCF9F5"/>
                </a:solidFill>
              </a:rPr>
              <a:t>O presente trabalho consiste na apuração e apresentação dos processos judiciais envolvendo as empresas diligenciadas, com análise de aspectos como quantidade, região, natureza, status, data de distribuição, valor da causa e relevância, abrangendo as esferas cível, tributária, trabalhista e de insolvência.</a:t>
            </a:r>
            <a:endParaRPr lang="en-US" sz="1600" b="0" i="0">
              <a:solidFill>
                <a:srgbClr val="FCF9F5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3258B33-5EB2-CA48-A1FF-9F02B50AF017}"/>
              </a:ext>
            </a:extLst>
          </p:cNvPr>
          <p:cNvSpPr/>
          <p:nvPr/>
        </p:nvSpPr>
        <p:spPr>
          <a:xfrm>
            <a:off x="4411720" y="1385116"/>
            <a:ext cx="3289759" cy="3765754"/>
          </a:xfrm>
          <a:prstGeom prst="roundRect">
            <a:avLst>
              <a:gd name="adj" fmla="val 10391"/>
            </a:avLst>
          </a:prstGeom>
          <a:gradFill>
            <a:gsLst>
              <a:gs pos="59000">
                <a:srgbClr val="625C4A">
                  <a:alpha val="58000"/>
                </a:srgbClr>
              </a:gs>
              <a:gs pos="23000">
                <a:srgbClr val="A48D60">
                  <a:alpha val="12000"/>
                </a:srgbClr>
              </a:gs>
              <a:gs pos="3000">
                <a:srgbClr val="D5B170">
                  <a:alpha val="0"/>
                </a:srgbClr>
              </a:gs>
              <a:gs pos="100000">
                <a:srgbClr val="101F2E"/>
              </a:gs>
            </a:gsLst>
            <a:lin ang="5400000" scaled="1"/>
          </a:gradFill>
          <a:ln w="1270">
            <a:gradFill>
              <a:gsLst>
                <a:gs pos="0">
                  <a:srgbClr val="FCF9F5">
                    <a:alpha val="17000"/>
                  </a:srgbClr>
                </a:gs>
                <a:gs pos="54000">
                  <a:srgbClr val="FCF9F5">
                    <a:alpha val="0"/>
                  </a:srgbClr>
                </a:gs>
                <a:gs pos="100000">
                  <a:srgbClr val="FCF9F5">
                    <a:alpha val="15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C8D277-B5DC-2F8C-0071-D05598967EDD}"/>
              </a:ext>
            </a:extLst>
          </p:cNvPr>
          <p:cNvSpPr txBox="1"/>
          <p:nvPr/>
        </p:nvSpPr>
        <p:spPr>
          <a:xfrm>
            <a:off x="5173715" y="1493028"/>
            <a:ext cx="1765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i="0" u="none" strike="noStrike">
                <a:solidFill>
                  <a:srgbClr val="FDFAF5"/>
                </a:solidFill>
                <a:effectLst/>
                <a:latin typeface="Aptos" panose="020B0004020202020204" pitchFamily="34" charset="0"/>
              </a:rPr>
              <a:t>Metodologia:</a:t>
            </a:r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CA4476B-106D-2F8F-8076-D80EEC148608}"/>
              </a:ext>
            </a:extLst>
          </p:cNvPr>
          <p:cNvSpPr/>
          <p:nvPr/>
        </p:nvSpPr>
        <p:spPr>
          <a:xfrm>
            <a:off x="4697286" y="1496937"/>
            <a:ext cx="2718619" cy="369332"/>
          </a:xfrm>
          <a:prstGeom prst="roundRect">
            <a:avLst>
              <a:gd name="adj" fmla="val 50000"/>
            </a:avLst>
          </a:prstGeom>
          <a:noFill/>
          <a:ln w="2540">
            <a:gradFill>
              <a:gsLst>
                <a:gs pos="30000">
                  <a:srgbClr val="D5B170">
                    <a:alpha val="44000"/>
                  </a:srgbClr>
                </a:gs>
                <a:gs pos="53000">
                  <a:srgbClr val="FCF9F5"/>
                </a:gs>
                <a:gs pos="75000">
                  <a:srgbClr val="D5B170">
                    <a:alpha val="53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A8D644F-FC37-706C-242E-BE2BA1DC21EE}"/>
              </a:ext>
            </a:extLst>
          </p:cNvPr>
          <p:cNvSpPr txBox="1"/>
          <p:nvPr/>
        </p:nvSpPr>
        <p:spPr>
          <a:xfrm>
            <a:off x="4399996" y="2214189"/>
            <a:ext cx="328975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Clr>
                <a:srgbClr val="D5B170"/>
              </a:buClr>
            </a:pPr>
            <a:r>
              <a:rPr lang="pt-BR" sz="1600">
                <a:solidFill>
                  <a:srgbClr val="FCF9F5"/>
                </a:solidFill>
              </a:rPr>
              <a:t>A pesquisa foi realizada em plataformas digitais de abrangência nacional, consultando bases dos Tribunais Estaduais, Federais e Trabalhistas. A equipe técnica do escritório analisou os processos localizados para identificar os principais litígios e o passivo judicial das empresas diligenciadas.</a:t>
            </a:r>
            <a:endParaRPr lang="en-US" sz="1600" b="0" i="0">
              <a:solidFill>
                <a:srgbClr val="FCF9F5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5046438-AAB0-B181-90CF-09B330B4F004}"/>
              </a:ext>
            </a:extLst>
          </p:cNvPr>
          <p:cNvSpPr/>
          <p:nvPr/>
        </p:nvSpPr>
        <p:spPr>
          <a:xfrm>
            <a:off x="8096232" y="1397239"/>
            <a:ext cx="3289759" cy="3765754"/>
          </a:xfrm>
          <a:prstGeom prst="roundRect">
            <a:avLst>
              <a:gd name="adj" fmla="val 10391"/>
            </a:avLst>
          </a:prstGeom>
          <a:gradFill>
            <a:gsLst>
              <a:gs pos="59000">
                <a:srgbClr val="625C4A">
                  <a:alpha val="58000"/>
                </a:srgbClr>
              </a:gs>
              <a:gs pos="23000">
                <a:srgbClr val="A48D60">
                  <a:alpha val="12000"/>
                </a:srgbClr>
              </a:gs>
              <a:gs pos="3000">
                <a:srgbClr val="D5B170">
                  <a:alpha val="0"/>
                </a:srgbClr>
              </a:gs>
              <a:gs pos="100000">
                <a:srgbClr val="101F2E"/>
              </a:gs>
            </a:gsLst>
            <a:lin ang="5400000" scaled="1"/>
          </a:gradFill>
          <a:ln w="1270">
            <a:gradFill>
              <a:gsLst>
                <a:gs pos="0">
                  <a:srgbClr val="FCF9F5">
                    <a:alpha val="17000"/>
                  </a:srgbClr>
                </a:gs>
                <a:gs pos="54000">
                  <a:srgbClr val="FCF9F5">
                    <a:alpha val="0"/>
                  </a:srgbClr>
                </a:gs>
                <a:gs pos="100000">
                  <a:srgbClr val="FCF9F5">
                    <a:alpha val="15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75E6B57-6C76-4842-C55C-635CFF1294C6}"/>
              </a:ext>
            </a:extLst>
          </p:cNvPr>
          <p:cNvSpPr txBox="1"/>
          <p:nvPr/>
        </p:nvSpPr>
        <p:spPr>
          <a:xfrm>
            <a:off x="8858227" y="1505151"/>
            <a:ext cx="1765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i="0" u="none" strike="noStrike">
                <a:solidFill>
                  <a:srgbClr val="FDFAF5"/>
                </a:solidFill>
                <a:effectLst/>
                <a:latin typeface="Aptos" panose="020B0004020202020204" pitchFamily="34" charset="0"/>
              </a:rPr>
              <a:t>Observações:</a:t>
            </a:r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F38FB7D-CCB9-D5D6-30C4-BCF990E40A8D}"/>
              </a:ext>
            </a:extLst>
          </p:cNvPr>
          <p:cNvSpPr/>
          <p:nvPr/>
        </p:nvSpPr>
        <p:spPr>
          <a:xfrm>
            <a:off x="8381798" y="1509060"/>
            <a:ext cx="2718619" cy="369332"/>
          </a:xfrm>
          <a:prstGeom prst="roundRect">
            <a:avLst>
              <a:gd name="adj" fmla="val 50000"/>
            </a:avLst>
          </a:prstGeom>
          <a:noFill/>
          <a:ln w="2540">
            <a:gradFill>
              <a:gsLst>
                <a:gs pos="30000">
                  <a:srgbClr val="D5B170">
                    <a:alpha val="44000"/>
                  </a:srgbClr>
                </a:gs>
                <a:gs pos="53000">
                  <a:srgbClr val="FCF9F5"/>
                </a:gs>
                <a:gs pos="75000">
                  <a:srgbClr val="D5B170">
                    <a:alpha val="53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C2A7FFD0-8BFE-0505-C344-0149415ACB45}"/>
              </a:ext>
            </a:extLst>
          </p:cNvPr>
          <p:cNvSpPr/>
          <p:nvPr/>
        </p:nvSpPr>
        <p:spPr>
          <a:xfrm>
            <a:off x="1557412" y="5819018"/>
            <a:ext cx="1728230" cy="240953"/>
          </a:xfrm>
          <a:prstGeom prst="roundRect">
            <a:avLst>
              <a:gd name="adj" fmla="val 50000"/>
            </a:avLst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207BD3B-079C-8FF8-80F6-C9108C9C8D53}"/>
              </a:ext>
            </a:extLst>
          </p:cNvPr>
          <p:cNvSpPr txBox="1"/>
          <p:nvPr/>
        </p:nvSpPr>
        <p:spPr>
          <a:xfrm>
            <a:off x="8244871" y="2514360"/>
            <a:ext cx="299246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Clr>
                <a:srgbClr val="D5B170"/>
              </a:buClr>
            </a:pPr>
            <a:r>
              <a:rPr lang="pt-BR" sz="1600">
                <a:solidFill>
                  <a:srgbClr val="FCF9F5"/>
                </a:solidFill>
              </a:rPr>
              <a:t>Alguns processos podem não ser localizados por estarem em segredo de justiça. Nos casos de processos físicos, a análise limita-se às informações disponíveis nos sites dos respectivos Tribunais.</a:t>
            </a:r>
            <a:endParaRPr lang="en-US" sz="1600" b="0" i="0">
              <a:solidFill>
                <a:srgbClr val="FCF9F5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95AD14E-8B31-9602-F5B3-3C6243EA9AC0}"/>
              </a:ext>
            </a:extLst>
          </p:cNvPr>
          <p:cNvSpPr txBox="1"/>
          <p:nvPr/>
        </p:nvSpPr>
        <p:spPr>
          <a:xfrm>
            <a:off x="1562577" y="5770106"/>
            <a:ext cx="9643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FCF9F5"/>
                </a:solidFill>
              </a:rPr>
              <a:t>Nota de Atenção:   </a:t>
            </a:r>
            <a:r>
              <a:rPr lang="pt-BR" sz="1600">
                <a:solidFill>
                  <a:srgbClr val="FCF9F5"/>
                </a:solidFill>
              </a:rPr>
              <a:t>Processos em Segredo de Justiça podem não constar na busca. Análises de processos físicos limitam-se às informações digitais disponíveis no site do respectivo Tribunal.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334C58E3-9363-0F0C-1A43-EA14BCAD0770}"/>
              </a:ext>
            </a:extLst>
          </p:cNvPr>
          <p:cNvSpPr/>
          <p:nvPr/>
        </p:nvSpPr>
        <p:spPr>
          <a:xfrm>
            <a:off x="1018640" y="1515873"/>
            <a:ext cx="2718619" cy="369332"/>
          </a:xfrm>
          <a:prstGeom prst="roundRect">
            <a:avLst>
              <a:gd name="adj" fmla="val 50000"/>
            </a:avLst>
          </a:prstGeom>
          <a:noFill/>
          <a:ln w="2540">
            <a:gradFill>
              <a:gsLst>
                <a:gs pos="30000">
                  <a:srgbClr val="D5B170">
                    <a:alpha val="44000"/>
                  </a:srgbClr>
                </a:gs>
                <a:gs pos="53000">
                  <a:srgbClr val="FCF9F5"/>
                </a:gs>
                <a:gs pos="75000">
                  <a:srgbClr val="D5B170">
                    <a:alpha val="53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69FFCA2F-DD7B-69C6-5F13-38DDC129F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05" y="5813852"/>
            <a:ext cx="430369" cy="43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73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0110BD3-424E-3F8D-41BE-759A74E45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B77C8F8-7DDB-9912-4E50-6379A695708D}"/>
              </a:ext>
            </a:extLst>
          </p:cNvPr>
          <p:cNvSpPr/>
          <p:nvPr/>
        </p:nvSpPr>
        <p:spPr>
          <a:xfrm>
            <a:off x="490536" y="350042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2078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888BF23A287D544AB13564A213D2D8C" ma:contentTypeVersion="10" ma:contentTypeDescription="Crie um novo documento." ma:contentTypeScope="" ma:versionID="0fb20f90c6f0675a206f70b3d5cefe8c">
  <xsd:schema xmlns:xsd="http://www.w3.org/2001/XMLSchema" xmlns:xs="http://www.w3.org/2001/XMLSchema" xmlns:p="http://schemas.microsoft.com/office/2006/metadata/properties" xmlns:ns3="aaf913fa-2f4b-4dba-9470-6a886ee04398" targetNamespace="http://schemas.microsoft.com/office/2006/metadata/properties" ma:root="true" ma:fieldsID="1e825dcb7e264238ace72f767cff8f55" ns3:_="">
    <xsd:import namespace="aaf913fa-2f4b-4dba-9470-6a886ee0439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f913fa-2f4b-4dba-9470-6a886ee0439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af913fa-2f4b-4dba-9470-6a886ee0439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570471-183A-443D-9A23-6EBC91E64CED}">
  <ds:schemaRefs>
    <ds:schemaRef ds:uri="aaf913fa-2f4b-4dba-9470-6a886ee043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A1AD323-F9FA-4F80-93D7-72EB5561E13D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aaf913fa-2f4b-4dba-9470-6a886ee04398"/>
  </ds:schemaRefs>
</ds:datastoreItem>
</file>

<file path=customXml/itemProps3.xml><?xml version="1.0" encoding="utf-8"?>
<ds:datastoreItem xmlns:ds="http://schemas.openxmlformats.org/officeDocument/2006/customXml" ds:itemID="{54435B56-5C75-415C-9633-4E25FFB87A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Aptos</vt:lpstr>
      <vt:lpstr>Aptos Black</vt:lpstr>
      <vt:lpstr>Aptos Display</vt:lpstr>
      <vt:lpstr>Aptos Light</vt:lpstr>
      <vt:lpstr>Arial</vt:lpstr>
      <vt:lpstr>Tema do Office</vt:lpstr>
      <vt:lpstr>Apresentação do PowerPoint</vt:lpstr>
      <vt:lpstr>Apresentação do PowerPoint</vt:lpstr>
      <vt:lpstr>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Valentina Iacovacci</dc:creator>
  <cp:lastModifiedBy>Leonardo Marques Silva</cp:lastModifiedBy>
  <cp:revision>2</cp:revision>
  <dcterms:created xsi:type="dcterms:W3CDTF">2026-03-12T16:41:22Z</dcterms:created>
  <dcterms:modified xsi:type="dcterms:W3CDTF">2026-03-13T18:31:49Z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0x0101009888BF23A287D544AB13564A213D2D8C</vt:lpwstr>
  </property>
</Properties>
</file>